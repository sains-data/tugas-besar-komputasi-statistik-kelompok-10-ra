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ontserrat Bold" charset="1" panose="00000800000000000000"/>
      <p:regular r:id="rId16"/>
    </p:embeddedFont>
    <p:embeddedFont>
      <p:font typeface="Montserrat Medium" charset="1" panose="00000600000000000000"/>
      <p:regular r:id="rId17"/>
    </p:embeddedFont>
    <p:embeddedFont>
      <p:font typeface="Montserrat"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4">
              <a:alphaModFix amt="25000"/>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4">
              <a:alphaModFix amt="25000"/>
            </a:blip>
            <a:stretch>
              <a:fillRect l="0" t="0" r="0" b="0"/>
            </a:stretch>
          </a:blipFill>
        </p:spPr>
      </p:sp>
      <p:sp>
        <p:nvSpPr>
          <p:cNvPr name="Freeform 5" id="5"/>
          <p:cNvSpPr/>
          <p:nvPr/>
        </p:nvSpPr>
        <p:spPr>
          <a:xfrm flipH="false" flipV="false" rot="0">
            <a:off x="8568183" y="2217328"/>
            <a:ext cx="8794507" cy="5852344"/>
          </a:xfrm>
          <a:custGeom>
            <a:avLst/>
            <a:gdLst/>
            <a:ahLst/>
            <a:cxnLst/>
            <a:rect r="r" b="b" t="t" l="l"/>
            <a:pathLst>
              <a:path h="5852344" w="8794507">
                <a:moveTo>
                  <a:pt x="0" y="0"/>
                </a:moveTo>
                <a:lnTo>
                  <a:pt x="8794506" y="0"/>
                </a:lnTo>
                <a:lnTo>
                  <a:pt x="8794506" y="5852344"/>
                </a:lnTo>
                <a:lnTo>
                  <a:pt x="0" y="58523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60127" y="1031889"/>
            <a:ext cx="9003264" cy="3570974"/>
          </a:xfrm>
          <a:prstGeom prst="rect">
            <a:avLst/>
          </a:prstGeom>
        </p:spPr>
        <p:txBody>
          <a:bodyPr anchor="t" rtlCol="false" tIns="0" lIns="0" bIns="0" rIns="0">
            <a:spAutoFit/>
          </a:bodyPr>
          <a:lstStyle/>
          <a:p>
            <a:pPr algn="l">
              <a:lnSpc>
                <a:spcPts val="4675"/>
              </a:lnSpc>
            </a:pPr>
            <a:r>
              <a:rPr lang="en-US" sz="4584" b="true">
                <a:solidFill>
                  <a:srgbClr val="004A55"/>
                </a:solidFill>
                <a:latin typeface="Montserrat Bold"/>
                <a:ea typeface="Montserrat Bold"/>
                <a:cs typeface="Montserrat Bold"/>
                <a:sym typeface="Montserrat Bold"/>
              </a:rPr>
              <a:t>Analisis Visual Tingkat Putus Sekolah Siswa SD Berdasarkan Gender dan Status Sekolah di Kabupaten Lampung Selatan Tahun 2024</a:t>
            </a:r>
          </a:p>
        </p:txBody>
      </p:sp>
      <p:sp>
        <p:nvSpPr>
          <p:cNvPr name="TextBox 7" id="7"/>
          <p:cNvSpPr txBox="true"/>
          <p:nvPr/>
        </p:nvSpPr>
        <p:spPr>
          <a:xfrm rot="0">
            <a:off x="460127" y="4729813"/>
            <a:ext cx="6653939" cy="805368"/>
          </a:xfrm>
          <a:prstGeom prst="rect">
            <a:avLst/>
          </a:prstGeom>
        </p:spPr>
        <p:txBody>
          <a:bodyPr anchor="t" rtlCol="false" tIns="0" lIns="0" bIns="0" rIns="0">
            <a:spAutoFit/>
          </a:bodyPr>
          <a:lstStyle/>
          <a:p>
            <a:pPr algn="l">
              <a:lnSpc>
                <a:spcPts val="3106"/>
              </a:lnSpc>
            </a:pPr>
            <a:r>
              <a:rPr lang="en-US" sz="3046" b="true">
                <a:solidFill>
                  <a:srgbClr val="004A55"/>
                </a:solidFill>
                <a:latin typeface="Montserrat Medium"/>
                <a:ea typeface="Montserrat Medium"/>
                <a:cs typeface="Montserrat Medium"/>
                <a:sym typeface="Montserrat Medium"/>
              </a:rPr>
              <a:t>Tugas Besar Komputasi Statistik</a:t>
            </a:r>
          </a:p>
          <a:p>
            <a:pPr algn="l">
              <a:lnSpc>
                <a:spcPts val="3106"/>
              </a:lnSpc>
            </a:pPr>
            <a:r>
              <a:rPr lang="en-US" sz="3046" b="true">
                <a:solidFill>
                  <a:srgbClr val="004A55"/>
                </a:solidFill>
                <a:latin typeface="Montserrat Medium"/>
                <a:ea typeface="Montserrat Medium"/>
                <a:cs typeface="Montserrat Medium"/>
                <a:sym typeface="Montserrat Medium"/>
              </a:rPr>
              <a:t>Kelompok 10 RA</a:t>
            </a:r>
          </a:p>
        </p:txBody>
      </p:sp>
      <p:sp>
        <p:nvSpPr>
          <p:cNvPr name="Freeform 8" id="8"/>
          <p:cNvSpPr/>
          <p:nvPr/>
        </p:nvSpPr>
        <p:spPr>
          <a:xfrm flipH="false" flipV="false" rot="0">
            <a:off x="779387" y="6151725"/>
            <a:ext cx="4920109" cy="3936087"/>
          </a:xfrm>
          <a:custGeom>
            <a:avLst/>
            <a:gdLst/>
            <a:ahLst/>
            <a:cxnLst/>
            <a:rect r="r" b="b" t="t" l="l"/>
            <a:pathLst>
              <a:path h="3936087" w="4920109">
                <a:moveTo>
                  <a:pt x="0" y="0"/>
                </a:moveTo>
                <a:lnTo>
                  <a:pt x="4920108" y="0"/>
                </a:lnTo>
                <a:lnTo>
                  <a:pt x="4920108" y="3936087"/>
                </a:lnTo>
                <a:lnTo>
                  <a:pt x="0" y="393608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7064633" y="364043"/>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770719" y="2792957"/>
            <a:ext cx="6242774" cy="4994219"/>
          </a:xfrm>
          <a:custGeom>
            <a:avLst/>
            <a:gdLst/>
            <a:ahLst/>
            <a:cxnLst/>
            <a:rect r="r" b="b" t="t" l="l"/>
            <a:pathLst>
              <a:path h="4994219" w="6242774">
                <a:moveTo>
                  <a:pt x="0" y="0"/>
                </a:moveTo>
                <a:lnTo>
                  <a:pt x="6242774" y="0"/>
                </a:lnTo>
                <a:lnTo>
                  <a:pt x="6242774" y="4994219"/>
                </a:lnTo>
                <a:lnTo>
                  <a:pt x="0" y="49942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28700" y="589040"/>
            <a:ext cx="11113312"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Anggota Kelompok 10</a:t>
            </a:r>
          </a:p>
        </p:txBody>
      </p:sp>
      <p:sp>
        <p:nvSpPr>
          <p:cNvPr name="TextBox 8" id="8"/>
          <p:cNvSpPr txBox="true"/>
          <p:nvPr/>
        </p:nvSpPr>
        <p:spPr>
          <a:xfrm rot="0">
            <a:off x="316798" y="2031659"/>
            <a:ext cx="10029609" cy="1446396"/>
          </a:xfrm>
          <a:prstGeom prst="rect">
            <a:avLst/>
          </a:prstGeom>
        </p:spPr>
        <p:txBody>
          <a:bodyPr anchor="t" rtlCol="false" tIns="0" lIns="0" bIns="0" rIns="0">
            <a:spAutoFit/>
          </a:bodyPr>
          <a:lstStyle/>
          <a:p>
            <a:pPr algn="l">
              <a:lnSpc>
                <a:spcPts val="5867"/>
              </a:lnSpc>
            </a:pPr>
            <a:r>
              <a:rPr lang="en-US" sz="4191">
                <a:solidFill>
                  <a:srgbClr val="004A55"/>
                </a:solidFill>
                <a:latin typeface="Montserrat"/>
                <a:ea typeface="Montserrat"/>
                <a:cs typeface="Montserrat"/>
                <a:sym typeface="Montserrat"/>
              </a:rPr>
              <a:t>1. Anggi Puspita Ningrum 123450012 </a:t>
            </a:r>
          </a:p>
          <a:p>
            <a:pPr algn="l">
              <a:lnSpc>
                <a:spcPts val="5867"/>
              </a:lnSpc>
            </a:pPr>
            <a:r>
              <a:rPr lang="en-US" sz="4191">
                <a:solidFill>
                  <a:srgbClr val="004A55"/>
                </a:solidFill>
                <a:latin typeface="Montserrat"/>
                <a:ea typeface="Montserrat"/>
                <a:cs typeface="Montserrat"/>
                <a:sym typeface="Montserrat"/>
              </a:rPr>
              <a:t> </a:t>
            </a:r>
          </a:p>
        </p:txBody>
      </p:sp>
      <p:sp>
        <p:nvSpPr>
          <p:cNvPr name="TextBox 9" id="9"/>
          <p:cNvSpPr txBox="true"/>
          <p:nvPr/>
        </p:nvSpPr>
        <p:spPr>
          <a:xfrm rot="0">
            <a:off x="1499982" y="2934234"/>
            <a:ext cx="13403448" cy="2093181"/>
          </a:xfrm>
          <a:prstGeom prst="rect">
            <a:avLst/>
          </a:prstGeom>
        </p:spPr>
        <p:txBody>
          <a:bodyPr anchor="t" rtlCol="false" tIns="0" lIns="0" bIns="0" rIns="0">
            <a:spAutoFit/>
          </a:bodyPr>
          <a:lstStyle/>
          <a:p>
            <a:pPr algn="l">
              <a:lnSpc>
                <a:spcPts val="5612"/>
              </a:lnSpc>
            </a:pPr>
          </a:p>
          <a:p>
            <a:pPr algn="l">
              <a:lnSpc>
                <a:spcPts val="5612"/>
              </a:lnSpc>
            </a:pPr>
            <a:r>
              <a:rPr lang="en-US" sz="4009">
                <a:solidFill>
                  <a:srgbClr val="004A55"/>
                </a:solidFill>
                <a:latin typeface="Montserrat"/>
                <a:ea typeface="Montserrat"/>
                <a:cs typeface="Montserrat"/>
                <a:sym typeface="Montserrat"/>
              </a:rPr>
              <a:t>2. Fabiolla Charissa Putri 123450035</a:t>
            </a:r>
          </a:p>
          <a:p>
            <a:pPr algn="l">
              <a:lnSpc>
                <a:spcPts val="5612"/>
              </a:lnSpc>
            </a:pPr>
          </a:p>
        </p:txBody>
      </p:sp>
      <p:sp>
        <p:nvSpPr>
          <p:cNvPr name="TextBox 10" id="10"/>
          <p:cNvSpPr txBox="true"/>
          <p:nvPr/>
        </p:nvSpPr>
        <p:spPr>
          <a:xfrm rot="0">
            <a:off x="0" y="4419871"/>
            <a:ext cx="13569674" cy="2108670"/>
          </a:xfrm>
          <a:prstGeom prst="rect">
            <a:avLst/>
          </a:prstGeom>
        </p:spPr>
        <p:txBody>
          <a:bodyPr anchor="t" rtlCol="false" tIns="0" lIns="0" bIns="0" rIns="0">
            <a:spAutoFit/>
          </a:bodyPr>
          <a:lstStyle/>
          <a:p>
            <a:pPr algn="l">
              <a:lnSpc>
                <a:spcPts val="5682"/>
              </a:lnSpc>
            </a:pPr>
          </a:p>
          <a:p>
            <a:pPr algn="l">
              <a:lnSpc>
                <a:spcPts val="5682"/>
              </a:lnSpc>
            </a:pPr>
            <a:r>
              <a:rPr lang="en-US" sz="4058">
                <a:solidFill>
                  <a:srgbClr val="004A55"/>
                </a:solidFill>
                <a:latin typeface="Montserrat"/>
                <a:ea typeface="Montserrat"/>
                <a:cs typeface="Montserrat"/>
                <a:sym typeface="Montserrat"/>
              </a:rPr>
              <a:t> 3. Muhammad Hanif Faros 121450048 </a:t>
            </a:r>
          </a:p>
          <a:p>
            <a:pPr algn="l">
              <a:lnSpc>
                <a:spcPts val="5682"/>
              </a:lnSpc>
            </a:pPr>
          </a:p>
        </p:txBody>
      </p:sp>
      <p:sp>
        <p:nvSpPr>
          <p:cNvPr name="TextBox 11" id="11"/>
          <p:cNvSpPr txBox="true"/>
          <p:nvPr/>
        </p:nvSpPr>
        <p:spPr>
          <a:xfrm rot="0">
            <a:off x="1499982" y="5828660"/>
            <a:ext cx="14273023" cy="1471944"/>
          </a:xfrm>
          <a:prstGeom prst="rect">
            <a:avLst/>
          </a:prstGeom>
        </p:spPr>
        <p:txBody>
          <a:bodyPr anchor="t" rtlCol="false" tIns="0" lIns="0" bIns="0" rIns="0">
            <a:spAutoFit/>
          </a:bodyPr>
          <a:lstStyle/>
          <a:p>
            <a:pPr algn="l">
              <a:lnSpc>
                <a:spcPts val="5977"/>
              </a:lnSpc>
            </a:pPr>
          </a:p>
          <a:p>
            <a:pPr algn="l">
              <a:lnSpc>
                <a:spcPts val="5977"/>
              </a:lnSpc>
            </a:pPr>
            <a:r>
              <a:rPr lang="en-US" sz="4269">
                <a:solidFill>
                  <a:srgbClr val="004A55"/>
                </a:solidFill>
                <a:latin typeface="Montserrat"/>
                <a:ea typeface="Montserrat"/>
                <a:cs typeface="Montserrat"/>
                <a:sym typeface="Montserrat"/>
              </a:rPr>
              <a:t>4. Nobel Nizam Fathirizki 123450117 </a:t>
            </a:r>
          </a:p>
        </p:txBody>
      </p:sp>
      <p:sp>
        <p:nvSpPr>
          <p:cNvPr name="Freeform 12" id="12"/>
          <p:cNvSpPr/>
          <p:nvPr/>
        </p:nvSpPr>
        <p:spPr>
          <a:xfrm flipH="false" flipV="false" rot="0">
            <a:off x="579728" y="7606095"/>
            <a:ext cx="3147945" cy="2518356"/>
          </a:xfrm>
          <a:custGeom>
            <a:avLst/>
            <a:gdLst/>
            <a:ahLst/>
            <a:cxnLst/>
            <a:rect r="r" b="b" t="t" l="l"/>
            <a:pathLst>
              <a:path h="2518356" w="3147945">
                <a:moveTo>
                  <a:pt x="0" y="0"/>
                </a:moveTo>
                <a:lnTo>
                  <a:pt x="3147945" y="0"/>
                </a:lnTo>
                <a:lnTo>
                  <a:pt x="3147945" y="2518356"/>
                </a:lnTo>
                <a:lnTo>
                  <a:pt x="0" y="25183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4000500" y="1456419"/>
            <a:ext cx="15743019" cy="13939728"/>
          </a:xfrm>
          <a:custGeom>
            <a:avLst/>
            <a:gdLst/>
            <a:ahLst/>
            <a:cxnLst/>
            <a:rect r="r" b="b" t="t" l="l"/>
            <a:pathLst>
              <a:path h="13939728" w="15743019">
                <a:moveTo>
                  <a:pt x="0" y="0"/>
                </a:moveTo>
                <a:lnTo>
                  <a:pt x="15743019" y="0"/>
                </a:lnTo>
                <a:lnTo>
                  <a:pt x="15743019" y="13939728"/>
                </a:lnTo>
                <a:lnTo>
                  <a:pt x="0" y="139397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341629"/>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false" flipV="true" rot="0">
            <a:off x="16269656" y="8047409"/>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791850" y="838198"/>
            <a:ext cx="5496150" cy="5366241"/>
          </a:xfrm>
          <a:custGeom>
            <a:avLst/>
            <a:gdLst/>
            <a:ahLst/>
            <a:cxnLst/>
            <a:rect r="r" b="b" t="t" l="l"/>
            <a:pathLst>
              <a:path h="5366241" w="5496150">
                <a:moveTo>
                  <a:pt x="0" y="0"/>
                </a:moveTo>
                <a:lnTo>
                  <a:pt x="5496150" y="0"/>
                </a:lnTo>
                <a:lnTo>
                  <a:pt x="5496150" y="5366241"/>
                </a:lnTo>
                <a:lnTo>
                  <a:pt x="0" y="53662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230064" y="3565200"/>
            <a:ext cx="10454048" cy="1628097"/>
            <a:chOff x="0" y="0"/>
            <a:chExt cx="13938731" cy="2170796"/>
          </a:xfrm>
        </p:grpSpPr>
        <p:sp>
          <p:nvSpPr>
            <p:cNvPr name="TextBox 8" id="8"/>
            <p:cNvSpPr txBox="true"/>
            <p:nvPr/>
          </p:nvSpPr>
          <p:spPr>
            <a:xfrm rot="0">
              <a:off x="0" y="381346"/>
              <a:ext cx="13938731" cy="1789449"/>
            </a:xfrm>
            <a:prstGeom prst="rect">
              <a:avLst/>
            </a:prstGeom>
          </p:spPr>
          <p:txBody>
            <a:bodyPr anchor="t" rtlCol="false" tIns="0" lIns="0" bIns="0" rIns="0">
              <a:spAutoFit/>
            </a:bodyPr>
            <a:lstStyle/>
            <a:p>
              <a:pPr algn="ctr">
                <a:lnSpc>
                  <a:spcPts val="3517"/>
                </a:lnSpc>
              </a:pPr>
            </a:p>
            <a:p>
              <a:pPr algn="ctr">
                <a:lnSpc>
                  <a:spcPts val="3517"/>
                </a:lnSpc>
              </a:pPr>
            </a:p>
            <a:p>
              <a:pPr algn="ctr">
                <a:lnSpc>
                  <a:spcPts val="3517"/>
                </a:lnSpc>
              </a:pPr>
            </a:p>
          </p:txBody>
        </p:sp>
        <p:sp>
          <p:nvSpPr>
            <p:cNvPr name="TextBox 9" id="9"/>
            <p:cNvSpPr txBox="true"/>
            <p:nvPr/>
          </p:nvSpPr>
          <p:spPr>
            <a:xfrm rot="0">
              <a:off x="1013841" y="-9525"/>
              <a:ext cx="11911049" cy="281046"/>
            </a:xfrm>
            <a:prstGeom prst="rect">
              <a:avLst/>
            </a:prstGeom>
          </p:spPr>
          <p:txBody>
            <a:bodyPr anchor="t" rtlCol="false" tIns="0" lIns="0" bIns="0" rIns="0">
              <a:spAutoFit/>
            </a:bodyPr>
            <a:lstStyle/>
            <a:p>
              <a:pPr algn="ctr">
                <a:lnSpc>
                  <a:spcPts val="1699"/>
                </a:lnSpc>
              </a:pPr>
            </a:p>
          </p:txBody>
        </p:sp>
      </p:grpSp>
      <p:sp>
        <p:nvSpPr>
          <p:cNvPr name="Freeform 10" id="10"/>
          <p:cNvSpPr/>
          <p:nvPr/>
        </p:nvSpPr>
        <p:spPr>
          <a:xfrm flipH="false" flipV="false" rot="0">
            <a:off x="12217935" y="5485129"/>
            <a:ext cx="3348974" cy="3269816"/>
          </a:xfrm>
          <a:custGeom>
            <a:avLst/>
            <a:gdLst/>
            <a:ahLst/>
            <a:cxnLst/>
            <a:rect r="r" b="b" t="t" l="l"/>
            <a:pathLst>
              <a:path h="3269816" w="3348974">
                <a:moveTo>
                  <a:pt x="0" y="0"/>
                </a:moveTo>
                <a:lnTo>
                  <a:pt x="3348974" y="0"/>
                </a:lnTo>
                <a:lnTo>
                  <a:pt x="3348974" y="3269816"/>
                </a:lnTo>
                <a:lnTo>
                  <a:pt x="0" y="32698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547289" y="1872405"/>
            <a:ext cx="9665583" cy="8132699"/>
          </a:xfrm>
          <a:prstGeom prst="rect">
            <a:avLst/>
          </a:prstGeom>
        </p:spPr>
        <p:txBody>
          <a:bodyPr anchor="t" rtlCol="false" tIns="0" lIns="0" bIns="0" rIns="0">
            <a:spAutoFit/>
          </a:bodyPr>
          <a:lstStyle/>
          <a:p>
            <a:pPr algn="l">
              <a:lnSpc>
                <a:spcPts val="4047"/>
              </a:lnSpc>
            </a:pPr>
            <a:r>
              <a:rPr lang="en-US" sz="2891">
                <a:solidFill>
                  <a:srgbClr val="004A55"/>
                </a:solidFill>
                <a:latin typeface="Montserrat"/>
                <a:ea typeface="Montserrat"/>
                <a:cs typeface="Montserrat"/>
                <a:sym typeface="Montserrat"/>
              </a:rPr>
              <a:t>Penelitian ini menganalisis tingkat putus sekolah siswa SD di Kabupaten Lampung Selatan tahun 2024 berdasarkan wilayah, gender, dan status sekolah melalui pendekatan visualisasi data. Data sekunder diperoleh dari Portal Data Pendidikan Kemendikbud Ristek dan dianalisis menggunakan metode Exploratory Data Analysis (EDA) dengan bantuan bahasa pemrograman R. Hasil menunjukkan adanya ketimpangan antar kecamatan, dengan Kecamatan Natar memiliki angka tertinggi dan Candipuro serta Tanjung Bintang terendah. Putus sekolah lebih banyak dialami siswa laki-laki dan lebih dominan terjadi di sekolah negeri. Visualisasi berhasil menampilkan pola distribusi yang jelas serta menjadi dasar penyusunan rekomendasi kebijakan pendidikan.</a:t>
            </a:r>
          </a:p>
        </p:txBody>
      </p:sp>
      <p:sp>
        <p:nvSpPr>
          <p:cNvPr name="TextBox 12" id="12"/>
          <p:cNvSpPr txBox="true"/>
          <p:nvPr/>
        </p:nvSpPr>
        <p:spPr>
          <a:xfrm rot="0">
            <a:off x="1028700" y="292162"/>
            <a:ext cx="7004055" cy="1253998"/>
          </a:xfrm>
          <a:prstGeom prst="rect">
            <a:avLst/>
          </a:prstGeom>
        </p:spPr>
        <p:txBody>
          <a:bodyPr anchor="t" rtlCol="false" tIns="0" lIns="0" bIns="0" rIns="0">
            <a:spAutoFit/>
          </a:bodyPr>
          <a:lstStyle/>
          <a:p>
            <a:pPr algn="l">
              <a:lnSpc>
                <a:spcPts val="9501"/>
              </a:lnSpc>
            </a:pPr>
            <a:r>
              <a:rPr lang="en-US" sz="9315" b="true">
                <a:solidFill>
                  <a:srgbClr val="004A55"/>
                </a:solidFill>
                <a:latin typeface="Montserrat Bold"/>
                <a:ea typeface="Montserrat Bold"/>
                <a:cs typeface="Montserrat Bold"/>
                <a:sym typeface="Montserrat Bold"/>
              </a:rPr>
              <a:t>ABSTRAK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9813252" y="2421733"/>
            <a:ext cx="6954646" cy="6309761"/>
          </a:xfrm>
          <a:custGeom>
            <a:avLst/>
            <a:gdLst/>
            <a:ahLst/>
            <a:cxnLst/>
            <a:rect r="r" b="b" t="t" l="l"/>
            <a:pathLst>
              <a:path h="6309761" w="6954646">
                <a:moveTo>
                  <a:pt x="6954646" y="0"/>
                </a:moveTo>
                <a:lnTo>
                  <a:pt x="0" y="0"/>
                </a:lnTo>
                <a:lnTo>
                  <a:pt x="0" y="6309761"/>
                </a:lnTo>
                <a:lnTo>
                  <a:pt x="6954646" y="6309761"/>
                </a:lnTo>
                <a:lnTo>
                  <a:pt x="6954646"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394889" y="350783"/>
            <a:ext cx="15874767" cy="912740"/>
          </a:xfrm>
          <a:prstGeom prst="rect">
            <a:avLst/>
          </a:prstGeom>
        </p:spPr>
        <p:txBody>
          <a:bodyPr anchor="t" rtlCol="false" tIns="0" lIns="0" bIns="0" rIns="0">
            <a:spAutoFit/>
          </a:bodyPr>
          <a:lstStyle/>
          <a:p>
            <a:pPr algn="l">
              <a:lnSpc>
                <a:spcPts val="6956"/>
              </a:lnSpc>
            </a:pPr>
            <a:r>
              <a:rPr lang="en-US" sz="6819" b="true">
                <a:solidFill>
                  <a:srgbClr val="004A55"/>
                </a:solidFill>
                <a:latin typeface="Montserrat Bold"/>
                <a:ea typeface="Montserrat Bold"/>
                <a:cs typeface="Montserrat Bold"/>
                <a:sym typeface="Montserrat Bold"/>
              </a:rPr>
              <a:t>Latar Belakang &amp; Fokus Penelitian</a:t>
            </a:r>
          </a:p>
        </p:txBody>
      </p:sp>
      <p:sp>
        <p:nvSpPr>
          <p:cNvPr name="TextBox 8" id="8"/>
          <p:cNvSpPr txBox="true"/>
          <p:nvPr/>
        </p:nvSpPr>
        <p:spPr>
          <a:xfrm rot="0">
            <a:off x="394889" y="1634912"/>
            <a:ext cx="9665583" cy="7623388"/>
          </a:xfrm>
          <a:prstGeom prst="rect">
            <a:avLst/>
          </a:prstGeom>
        </p:spPr>
        <p:txBody>
          <a:bodyPr anchor="t" rtlCol="false" tIns="0" lIns="0" bIns="0" rIns="0">
            <a:spAutoFit/>
          </a:bodyPr>
          <a:lstStyle/>
          <a:p>
            <a:pPr algn="l">
              <a:lnSpc>
                <a:spcPts val="4047"/>
              </a:lnSpc>
            </a:pPr>
            <a:r>
              <a:rPr lang="en-US" sz="2891">
                <a:solidFill>
                  <a:srgbClr val="004A55"/>
                </a:solidFill>
                <a:latin typeface="Montserrat"/>
                <a:ea typeface="Montserrat"/>
                <a:cs typeface="Montserrat"/>
                <a:sym typeface="Montserrat"/>
              </a:rPr>
              <a:t>* Putus sekolah SD berdampak pada kualitas SDM jangka panjang</a:t>
            </a:r>
          </a:p>
          <a:p>
            <a:pPr algn="l">
              <a:lnSpc>
                <a:spcPts val="4047"/>
              </a:lnSpc>
            </a:pPr>
            <a:r>
              <a:rPr lang="en-US" sz="2891">
                <a:solidFill>
                  <a:srgbClr val="004A55"/>
                </a:solidFill>
                <a:latin typeface="Montserrat"/>
                <a:ea typeface="Montserrat"/>
                <a:cs typeface="Montserrat"/>
                <a:sym typeface="Montserrat"/>
              </a:rPr>
              <a:t>* Masalah dipengaruhi faktor sosial, ekonomi, dan akses pendidikan</a:t>
            </a:r>
          </a:p>
          <a:p>
            <a:pPr algn="l">
              <a:lnSpc>
                <a:spcPts val="4047"/>
              </a:lnSpc>
            </a:pPr>
            <a:r>
              <a:rPr lang="en-US" sz="2891">
                <a:solidFill>
                  <a:srgbClr val="004A55"/>
                </a:solidFill>
                <a:latin typeface="Montserrat"/>
                <a:ea typeface="Montserrat"/>
                <a:cs typeface="Montserrat"/>
                <a:sym typeface="Montserrat"/>
              </a:rPr>
              <a:t>* Terjadi ketimpangan antar wilayah di Lampung Selatan</a:t>
            </a:r>
          </a:p>
          <a:p>
            <a:pPr algn="l">
              <a:lnSpc>
                <a:spcPts val="4047"/>
              </a:lnSpc>
            </a:pPr>
          </a:p>
          <a:p>
            <a:pPr algn="l">
              <a:lnSpc>
                <a:spcPts val="4047"/>
              </a:lnSpc>
            </a:pPr>
            <a:r>
              <a:rPr lang="en-US" sz="2891">
                <a:solidFill>
                  <a:srgbClr val="004A55"/>
                </a:solidFill>
                <a:latin typeface="Montserrat"/>
                <a:ea typeface="Montserrat"/>
                <a:cs typeface="Montserrat"/>
                <a:sym typeface="Montserrat"/>
              </a:rPr>
              <a:t>**Fokus penelitian:**</a:t>
            </a:r>
          </a:p>
          <a:p>
            <a:pPr algn="l">
              <a:lnSpc>
                <a:spcPts val="4047"/>
              </a:lnSpc>
            </a:pPr>
          </a:p>
          <a:p>
            <a:pPr algn="l">
              <a:lnSpc>
                <a:spcPts val="4047"/>
              </a:lnSpc>
            </a:pPr>
            <a:r>
              <a:rPr lang="en-US" sz="2891">
                <a:solidFill>
                  <a:srgbClr val="004A55"/>
                </a:solidFill>
                <a:latin typeface="Montserrat"/>
                <a:ea typeface="Montserrat"/>
                <a:cs typeface="Montserrat"/>
                <a:sym typeface="Montserrat"/>
              </a:rPr>
              <a:t>* Distribusi putus sekolah per kecamatan</a:t>
            </a:r>
          </a:p>
          <a:p>
            <a:pPr algn="l">
              <a:lnSpc>
                <a:spcPts val="4047"/>
              </a:lnSpc>
            </a:pPr>
            <a:r>
              <a:rPr lang="en-US" sz="2891">
                <a:solidFill>
                  <a:srgbClr val="004A55"/>
                </a:solidFill>
                <a:latin typeface="Montserrat"/>
                <a:ea typeface="Montserrat"/>
                <a:cs typeface="Montserrat"/>
                <a:sym typeface="Montserrat"/>
              </a:rPr>
              <a:t>* Perbandingan berdasarkan gender</a:t>
            </a:r>
          </a:p>
          <a:p>
            <a:pPr algn="l">
              <a:lnSpc>
                <a:spcPts val="4047"/>
              </a:lnSpc>
            </a:pPr>
            <a:r>
              <a:rPr lang="en-US" sz="2891">
                <a:solidFill>
                  <a:srgbClr val="004A55"/>
                </a:solidFill>
                <a:latin typeface="Montserrat"/>
                <a:ea typeface="Montserrat"/>
                <a:cs typeface="Montserrat"/>
                <a:sym typeface="Montserrat"/>
              </a:rPr>
              <a:t>* Perbedaan sekolah negeri dan swasta</a:t>
            </a:r>
          </a:p>
          <a:p>
            <a:pPr algn="l">
              <a:lnSpc>
                <a:spcPts val="4047"/>
              </a:lnSpc>
            </a:pPr>
            <a:r>
              <a:rPr lang="en-US" sz="2891">
                <a:solidFill>
                  <a:srgbClr val="004A55"/>
                </a:solidFill>
                <a:latin typeface="Montserrat"/>
                <a:ea typeface="Montserrat"/>
                <a:cs typeface="Montserrat"/>
                <a:sym typeface="Montserrat"/>
              </a:rPr>
              <a:t>* Identifikasi pola melalui visualisasi data</a:t>
            </a:r>
          </a:p>
          <a:p>
            <a:pPr algn="l">
              <a:lnSpc>
                <a:spcPts val="4047"/>
              </a:lnSpc>
            </a:pPr>
          </a:p>
          <a:p>
            <a:pPr algn="l">
              <a:lnSpc>
                <a:spcPts val="4047"/>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6670238" y="230064"/>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888402" y="2732113"/>
            <a:ext cx="6695341" cy="6074500"/>
          </a:xfrm>
          <a:custGeom>
            <a:avLst/>
            <a:gdLst/>
            <a:ahLst/>
            <a:cxnLst/>
            <a:rect r="r" b="b" t="t" l="l"/>
            <a:pathLst>
              <a:path h="6074500" w="6695341">
                <a:moveTo>
                  <a:pt x="0" y="0"/>
                </a:moveTo>
                <a:lnTo>
                  <a:pt x="6695341" y="0"/>
                </a:lnTo>
                <a:lnTo>
                  <a:pt x="6695341" y="6074501"/>
                </a:lnTo>
                <a:lnTo>
                  <a:pt x="0" y="607450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798636" y="589040"/>
            <a:ext cx="9545777"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Metode Penelitian</a:t>
            </a:r>
          </a:p>
        </p:txBody>
      </p:sp>
      <p:sp>
        <p:nvSpPr>
          <p:cNvPr name="TextBox 8" id="8"/>
          <p:cNvSpPr txBox="true"/>
          <p:nvPr/>
        </p:nvSpPr>
        <p:spPr>
          <a:xfrm rot="0">
            <a:off x="798636" y="1858086"/>
            <a:ext cx="8345364" cy="8329846"/>
          </a:xfrm>
          <a:prstGeom prst="rect">
            <a:avLst/>
          </a:prstGeom>
        </p:spPr>
        <p:txBody>
          <a:bodyPr anchor="t" rtlCol="false" tIns="0" lIns="0" bIns="0" rIns="0">
            <a:spAutoFit/>
          </a:bodyPr>
          <a:lstStyle/>
          <a:p>
            <a:pPr algn="l">
              <a:lnSpc>
                <a:spcPts val="3494"/>
              </a:lnSpc>
            </a:pPr>
            <a:r>
              <a:rPr lang="en-US" sz="2496">
                <a:solidFill>
                  <a:srgbClr val="004A55"/>
                </a:solidFill>
                <a:latin typeface="Montserrat"/>
                <a:ea typeface="Montserrat"/>
                <a:cs typeface="Montserrat"/>
                <a:sym typeface="Montserrat"/>
              </a:rPr>
              <a:t>* Jenis data: Data sekunder tahun 2024</a:t>
            </a:r>
          </a:p>
          <a:p>
            <a:pPr algn="l">
              <a:lnSpc>
                <a:spcPts val="3494"/>
              </a:lnSpc>
            </a:pPr>
            <a:r>
              <a:rPr lang="en-US" sz="2496">
                <a:solidFill>
                  <a:srgbClr val="004A55"/>
                </a:solidFill>
                <a:latin typeface="Montserrat"/>
                <a:ea typeface="Montserrat"/>
                <a:cs typeface="Montserrat"/>
                <a:sym typeface="Montserrat"/>
              </a:rPr>
              <a:t>* Sumber: Portal Data Pendidikan Kemendikbud Ristek</a:t>
            </a:r>
          </a:p>
          <a:p>
            <a:pPr algn="l">
              <a:lnSpc>
                <a:spcPts val="3494"/>
              </a:lnSpc>
            </a:pPr>
            <a:r>
              <a:rPr lang="en-US" sz="2496">
                <a:solidFill>
                  <a:srgbClr val="004A55"/>
                </a:solidFill>
                <a:latin typeface="Montserrat"/>
                <a:ea typeface="Montserrat"/>
                <a:cs typeface="Montserrat"/>
                <a:sym typeface="Montserrat"/>
              </a:rPr>
              <a:t>* Pendekatan: Exploratory Data Analysis (EDA)</a:t>
            </a:r>
          </a:p>
          <a:p>
            <a:pPr algn="l">
              <a:lnSpc>
                <a:spcPts val="3494"/>
              </a:lnSpc>
            </a:pPr>
            <a:r>
              <a:rPr lang="en-US" sz="2496">
                <a:solidFill>
                  <a:srgbClr val="004A55"/>
                </a:solidFill>
                <a:latin typeface="Montserrat"/>
                <a:ea typeface="Montserrat"/>
                <a:cs typeface="Montserrat"/>
                <a:sym typeface="Montserrat"/>
              </a:rPr>
              <a:t>* Alat analisis: Bahasa pemrograman R (Google Colab)</a:t>
            </a:r>
          </a:p>
          <a:p>
            <a:pPr algn="l">
              <a:lnSpc>
                <a:spcPts val="3494"/>
              </a:lnSpc>
            </a:pPr>
          </a:p>
          <a:p>
            <a:pPr algn="l">
              <a:lnSpc>
                <a:spcPts val="3494"/>
              </a:lnSpc>
            </a:pPr>
            <a:r>
              <a:rPr lang="en-US" sz="2496">
                <a:solidFill>
                  <a:srgbClr val="004A55"/>
                </a:solidFill>
                <a:latin typeface="Montserrat"/>
                <a:ea typeface="Montserrat"/>
                <a:cs typeface="Montserrat"/>
                <a:sym typeface="Montserrat"/>
              </a:rPr>
              <a:t>**Visualisasi yang digunakan:**</a:t>
            </a:r>
          </a:p>
          <a:p>
            <a:pPr algn="l">
              <a:lnSpc>
                <a:spcPts val="3494"/>
              </a:lnSpc>
            </a:pPr>
          </a:p>
          <a:p>
            <a:pPr algn="l">
              <a:lnSpc>
                <a:spcPts val="3494"/>
              </a:lnSpc>
            </a:pPr>
            <a:r>
              <a:rPr lang="en-US" sz="2496">
                <a:solidFill>
                  <a:srgbClr val="004A55"/>
                </a:solidFill>
                <a:latin typeface="Montserrat"/>
                <a:ea typeface="Montserrat"/>
                <a:cs typeface="Montserrat"/>
                <a:sym typeface="Montserrat"/>
              </a:rPr>
              <a:t>* Barplot total</a:t>
            </a:r>
          </a:p>
          <a:p>
            <a:pPr algn="l">
              <a:lnSpc>
                <a:spcPts val="3494"/>
              </a:lnSpc>
            </a:pPr>
            <a:r>
              <a:rPr lang="en-US" sz="2496">
                <a:solidFill>
                  <a:srgbClr val="004A55"/>
                </a:solidFill>
                <a:latin typeface="Montserrat"/>
                <a:ea typeface="Montserrat"/>
                <a:cs typeface="Montserrat"/>
                <a:sym typeface="Montserrat"/>
              </a:rPr>
              <a:t>* Grouped barplot</a:t>
            </a:r>
          </a:p>
          <a:p>
            <a:pPr algn="l">
              <a:lnSpc>
                <a:spcPts val="3494"/>
              </a:lnSpc>
            </a:pPr>
            <a:r>
              <a:rPr lang="en-US" sz="2496">
                <a:solidFill>
                  <a:srgbClr val="004A55"/>
                </a:solidFill>
                <a:latin typeface="Montserrat"/>
                <a:ea typeface="Montserrat"/>
                <a:cs typeface="Montserrat"/>
                <a:sym typeface="Montserrat"/>
              </a:rPr>
              <a:t>* Stacked barplot</a:t>
            </a:r>
          </a:p>
          <a:p>
            <a:pPr algn="l">
              <a:lnSpc>
                <a:spcPts val="3494"/>
              </a:lnSpc>
            </a:pPr>
          </a:p>
          <a:p>
            <a:pPr algn="l">
              <a:lnSpc>
                <a:spcPts val="3494"/>
              </a:lnSpc>
            </a:pPr>
            <a:r>
              <a:rPr lang="en-US" sz="2496">
                <a:solidFill>
                  <a:srgbClr val="004A55"/>
                </a:solidFill>
                <a:latin typeface="Montserrat"/>
                <a:ea typeface="Montserrat"/>
                <a:cs typeface="Montserrat"/>
                <a:sym typeface="Montserrat"/>
              </a:rPr>
              <a:t>**Variabel utama:**</a:t>
            </a:r>
          </a:p>
          <a:p>
            <a:pPr algn="l">
              <a:lnSpc>
                <a:spcPts val="3494"/>
              </a:lnSpc>
            </a:pPr>
          </a:p>
          <a:p>
            <a:pPr algn="l">
              <a:lnSpc>
                <a:spcPts val="3494"/>
              </a:lnSpc>
            </a:pPr>
            <a:r>
              <a:rPr lang="en-US" sz="2496">
                <a:solidFill>
                  <a:srgbClr val="004A55"/>
                </a:solidFill>
                <a:latin typeface="Montserrat"/>
                <a:ea typeface="Montserrat"/>
                <a:cs typeface="Montserrat"/>
                <a:sym typeface="Montserrat"/>
              </a:rPr>
              <a:t>* Kecamatan</a:t>
            </a:r>
          </a:p>
          <a:p>
            <a:pPr algn="l">
              <a:lnSpc>
                <a:spcPts val="3494"/>
              </a:lnSpc>
            </a:pPr>
            <a:r>
              <a:rPr lang="en-US" sz="2496">
                <a:solidFill>
                  <a:srgbClr val="004A55"/>
                </a:solidFill>
                <a:latin typeface="Montserrat"/>
                <a:ea typeface="Montserrat"/>
                <a:cs typeface="Montserrat"/>
                <a:sym typeface="Montserrat"/>
              </a:rPr>
              <a:t>* Gender (Laki-laki &amp; Perempuan)</a:t>
            </a:r>
          </a:p>
          <a:p>
            <a:pPr algn="l">
              <a:lnSpc>
                <a:spcPts val="3494"/>
              </a:lnSpc>
            </a:pPr>
            <a:r>
              <a:rPr lang="en-US" sz="2496">
                <a:solidFill>
                  <a:srgbClr val="004A55"/>
                </a:solidFill>
                <a:latin typeface="Montserrat"/>
                <a:ea typeface="Montserrat"/>
                <a:cs typeface="Montserrat"/>
                <a:sym typeface="Montserrat"/>
              </a:rPr>
              <a:t>* Status sekolah (Negeri &amp; Swasta)</a:t>
            </a:r>
          </a:p>
          <a:p>
            <a:pPr algn="l">
              <a:lnSpc>
                <a:spcPts val="3494"/>
              </a:lnSpc>
            </a:pPr>
            <a:r>
              <a:rPr lang="en-US" sz="2496">
                <a:solidFill>
                  <a:srgbClr val="004A55"/>
                </a:solidFill>
                <a:latin typeface="Montserrat"/>
                <a:ea typeface="Montserrat"/>
                <a:cs typeface="Montserrat"/>
                <a:sym typeface="Montserrat"/>
              </a:rPr>
              <a:t>* Jumlah putus sekolah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280461" y="2413864"/>
            <a:ext cx="6198523" cy="6710999"/>
          </a:xfrm>
          <a:custGeom>
            <a:avLst/>
            <a:gdLst/>
            <a:ahLst/>
            <a:cxnLst/>
            <a:rect r="r" b="b" t="t" l="l"/>
            <a:pathLst>
              <a:path h="6710999" w="6198523">
                <a:moveTo>
                  <a:pt x="0" y="0"/>
                </a:moveTo>
                <a:lnTo>
                  <a:pt x="6198523" y="0"/>
                </a:lnTo>
                <a:lnTo>
                  <a:pt x="6198523" y="6710999"/>
                </a:lnTo>
                <a:lnTo>
                  <a:pt x="0" y="671099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610761" y="589040"/>
            <a:ext cx="15658895"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Temuan Utama per Kecamatan</a:t>
            </a:r>
          </a:p>
        </p:txBody>
      </p:sp>
      <p:sp>
        <p:nvSpPr>
          <p:cNvPr name="TextBox 8" id="8"/>
          <p:cNvSpPr txBox="true"/>
          <p:nvPr/>
        </p:nvSpPr>
        <p:spPr>
          <a:xfrm rot="0">
            <a:off x="610761" y="2070420"/>
            <a:ext cx="8830830" cy="6495090"/>
          </a:xfrm>
          <a:prstGeom prst="rect">
            <a:avLst/>
          </a:prstGeom>
        </p:spPr>
        <p:txBody>
          <a:bodyPr anchor="t" rtlCol="false" tIns="0" lIns="0" bIns="0" rIns="0">
            <a:spAutoFit/>
          </a:bodyPr>
          <a:lstStyle/>
          <a:p>
            <a:pPr algn="l">
              <a:lnSpc>
                <a:spcPts val="3698"/>
              </a:lnSpc>
            </a:pPr>
            <a:r>
              <a:rPr lang="en-US" sz="2641">
                <a:solidFill>
                  <a:srgbClr val="004A55"/>
                </a:solidFill>
                <a:latin typeface="Montserrat"/>
                <a:ea typeface="Montserrat"/>
                <a:cs typeface="Montserrat"/>
                <a:sym typeface="Montserrat"/>
              </a:rPr>
              <a:t>* Putus sekolah tertinggi:</a:t>
            </a:r>
          </a:p>
          <a:p>
            <a:pPr algn="l">
              <a:lnSpc>
                <a:spcPts val="3698"/>
              </a:lnSpc>
            </a:pPr>
          </a:p>
          <a:p>
            <a:pPr algn="l">
              <a:lnSpc>
                <a:spcPts val="3698"/>
              </a:lnSpc>
            </a:pPr>
            <a:r>
              <a:rPr lang="en-US" sz="2641">
                <a:solidFill>
                  <a:srgbClr val="004A55"/>
                </a:solidFill>
                <a:latin typeface="Montserrat"/>
                <a:ea typeface="Montserrat"/>
                <a:cs typeface="Montserrat"/>
                <a:sym typeface="Montserrat"/>
              </a:rPr>
              <a:t>  * Natar: 61 siswa</a:t>
            </a:r>
          </a:p>
          <a:p>
            <a:pPr algn="l">
              <a:lnSpc>
                <a:spcPts val="3698"/>
              </a:lnSpc>
            </a:pPr>
            <a:r>
              <a:rPr lang="en-US" sz="2641">
                <a:solidFill>
                  <a:srgbClr val="004A55"/>
                </a:solidFill>
                <a:latin typeface="Montserrat"/>
                <a:ea typeface="Montserrat"/>
                <a:cs typeface="Montserrat"/>
                <a:sym typeface="Montserrat"/>
              </a:rPr>
              <a:t>  * Penengahan: 27 siswa</a:t>
            </a:r>
          </a:p>
          <a:p>
            <a:pPr algn="l">
              <a:lnSpc>
                <a:spcPts val="3698"/>
              </a:lnSpc>
            </a:pPr>
            <a:r>
              <a:rPr lang="en-US" sz="2641">
                <a:solidFill>
                  <a:srgbClr val="004A55"/>
                </a:solidFill>
                <a:latin typeface="Montserrat"/>
                <a:ea typeface="Montserrat"/>
                <a:cs typeface="Montserrat"/>
                <a:sym typeface="Montserrat"/>
              </a:rPr>
              <a:t>  * Way Panji: 22 siswa</a:t>
            </a:r>
          </a:p>
          <a:p>
            <a:pPr algn="l">
              <a:lnSpc>
                <a:spcPts val="3698"/>
              </a:lnSpc>
            </a:pPr>
            <a:r>
              <a:rPr lang="en-US" sz="2641">
                <a:solidFill>
                  <a:srgbClr val="004A55"/>
                </a:solidFill>
                <a:latin typeface="Montserrat"/>
                <a:ea typeface="Montserrat"/>
                <a:cs typeface="Montserrat"/>
                <a:sym typeface="Montserrat"/>
              </a:rPr>
              <a:t>* Putus sekolah terendah:</a:t>
            </a:r>
          </a:p>
          <a:p>
            <a:pPr algn="l">
              <a:lnSpc>
                <a:spcPts val="3698"/>
              </a:lnSpc>
            </a:pPr>
          </a:p>
          <a:p>
            <a:pPr algn="l">
              <a:lnSpc>
                <a:spcPts val="3698"/>
              </a:lnSpc>
            </a:pPr>
            <a:r>
              <a:rPr lang="en-US" sz="2641">
                <a:solidFill>
                  <a:srgbClr val="004A55"/>
                </a:solidFill>
                <a:latin typeface="Montserrat"/>
                <a:ea typeface="Montserrat"/>
                <a:cs typeface="Montserrat"/>
                <a:sym typeface="Montserrat"/>
              </a:rPr>
              <a:t>  * Candipuro: 1 siswa</a:t>
            </a:r>
          </a:p>
          <a:p>
            <a:pPr algn="l">
              <a:lnSpc>
                <a:spcPts val="3698"/>
              </a:lnSpc>
            </a:pPr>
            <a:r>
              <a:rPr lang="en-US" sz="2641">
                <a:solidFill>
                  <a:srgbClr val="004A55"/>
                </a:solidFill>
                <a:latin typeface="Montserrat"/>
                <a:ea typeface="Montserrat"/>
                <a:cs typeface="Montserrat"/>
                <a:sym typeface="Montserrat"/>
              </a:rPr>
              <a:t>  * Tanjung Bintang: 2 siswa</a:t>
            </a:r>
          </a:p>
          <a:p>
            <a:pPr algn="l">
              <a:lnSpc>
                <a:spcPts val="3698"/>
              </a:lnSpc>
            </a:pPr>
          </a:p>
          <a:p>
            <a:pPr algn="l">
              <a:lnSpc>
                <a:spcPts val="3698"/>
              </a:lnSpc>
            </a:pPr>
            <a:r>
              <a:rPr lang="en-US" sz="2641">
                <a:solidFill>
                  <a:srgbClr val="004A55"/>
                </a:solidFill>
                <a:latin typeface="Montserrat"/>
                <a:ea typeface="Montserrat"/>
                <a:cs typeface="Montserrat"/>
                <a:sym typeface="Montserrat"/>
              </a:rPr>
              <a:t>➡ Kasus tidak merata dan terkonsentrasi di wilayah tertentu.</a:t>
            </a:r>
          </a:p>
          <a:p>
            <a:pPr algn="l">
              <a:lnSpc>
                <a:spcPts val="3698"/>
              </a:lnSpc>
            </a:pPr>
            <a:r>
              <a:rPr lang="en-US" sz="2641">
                <a:solidFill>
                  <a:srgbClr val="004A55"/>
                </a:solidFill>
                <a:latin typeface="Montserrat"/>
                <a:ea typeface="Montserrat"/>
                <a:cs typeface="Montserrat"/>
                <a:sym typeface="Montserrat"/>
              </a:rPr>
              <a:t>➡ Kecamatan Natar menjadi wilayah prioritas intervensi kebijakan.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589040"/>
            <a:ext cx="14508577"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Analisis Berdasarkan Gender</a:t>
            </a:r>
          </a:p>
        </p:txBody>
      </p:sp>
      <p:sp>
        <p:nvSpPr>
          <p:cNvPr name="TextBox 7" id="7"/>
          <p:cNvSpPr txBox="true"/>
          <p:nvPr/>
        </p:nvSpPr>
        <p:spPr>
          <a:xfrm rot="0">
            <a:off x="1095375" y="1822976"/>
            <a:ext cx="9630781" cy="6073711"/>
          </a:xfrm>
          <a:prstGeom prst="rect">
            <a:avLst/>
          </a:prstGeom>
        </p:spPr>
        <p:txBody>
          <a:bodyPr anchor="t" rtlCol="false" tIns="0" lIns="0" bIns="0" rIns="0">
            <a:spAutoFit/>
          </a:bodyPr>
          <a:lstStyle/>
          <a:p>
            <a:pPr algn="l">
              <a:lnSpc>
                <a:spcPts val="4033"/>
              </a:lnSpc>
            </a:pPr>
            <a:r>
              <a:rPr lang="en-US" sz="2880">
                <a:solidFill>
                  <a:srgbClr val="004A55"/>
                </a:solidFill>
                <a:latin typeface="Montserrat"/>
                <a:ea typeface="Montserrat"/>
                <a:cs typeface="Montserrat"/>
                <a:sym typeface="Montserrat"/>
              </a:rPr>
              <a:t>* Total agregat:</a:t>
            </a:r>
          </a:p>
          <a:p>
            <a:pPr algn="l">
              <a:lnSpc>
                <a:spcPts val="4033"/>
              </a:lnSpc>
            </a:pPr>
          </a:p>
          <a:p>
            <a:pPr algn="l">
              <a:lnSpc>
                <a:spcPts val="4033"/>
              </a:lnSpc>
            </a:pPr>
            <a:r>
              <a:rPr lang="en-US" sz="2880">
                <a:solidFill>
                  <a:srgbClr val="004A55"/>
                </a:solidFill>
                <a:latin typeface="Montserrat"/>
                <a:ea typeface="Montserrat"/>
                <a:cs typeface="Montserrat"/>
                <a:sym typeface="Montserrat"/>
              </a:rPr>
              <a:t>  * Laki-laki: 91 siswa</a:t>
            </a:r>
          </a:p>
          <a:p>
            <a:pPr algn="l">
              <a:lnSpc>
                <a:spcPts val="4033"/>
              </a:lnSpc>
            </a:pPr>
            <a:r>
              <a:rPr lang="en-US" sz="2880">
                <a:solidFill>
                  <a:srgbClr val="004A55"/>
                </a:solidFill>
                <a:latin typeface="Montserrat"/>
                <a:ea typeface="Montserrat"/>
                <a:cs typeface="Montserrat"/>
                <a:sym typeface="Montserrat"/>
              </a:rPr>
              <a:t>  * Perempuan: 81 siswa</a:t>
            </a:r>
          </a:p>
          <a:p>
            <a:pPr algn="l">
              <a:lnSpc>
                <a:spcPts val="4033"/>
              </a:lnSpc>
            </a:pPr>
            <a:r>
              <a:rPr lang="en-US" sz="2880">
                <a:solidFill>
                  <a:srgbClr val="004A55"/>
                </a:solidFill>
                <a:latin typeface="Montserrat"/>
                <a:ea typeface="Montserrat"/>
                <a:cs typeface="Montserrat"/>
                <a:sym typeface="Montserrat"/>
              </a:rPr>
              <a:t>* Mayoritas kecamatan didominasi siswa laki-laki</a:t>
            </a:r>
          </a:p>
          <a:p>
            <a:pPr algn="l">
              <a:lnSpc>
                <a:spcPts val="4033"/>
              </a:lnSpc>
            </a:pPr>
            <a:r>
              <a:rPr lang="en-US" sz="2880">
                <a:solidFill>
                  <a:srgbClr val="004A55"/>
                </a:solidFill>
                <a:latin typeface="Montserrat"/>
                <a:ea typeface="Montserrat"/>
                <a:cs typeface="Montserrat"/>
                <a:sym typeface="Montserrat"/>
              </a:rPr>
              <a:t>* Pengecualian: Penengahan &amp; Tanjung Bintang (perempuan lebih tinggi)</a:t>
            </a:r>
          </a:p>
          <a:p>
            <a:pPr algn="l">
              <a:lnSpc>
                <a:spcPts val="4033"/>
              </a:lnSpc>
            </a:pPr>
          </a:p>
          <a:p>
            <a:pPr algn="l">
              <a:lnSpc>
                <a:spcPts val="4033"/>
              </a:lnSpc>
            </a:pPr>
            <a:r>
              <a:rPr lang="en-US" sz="2880">
                <a:solidFill>
                  <a:srgbClr val="004A55"/>
                </a:solidFill>
                <a:latin typeface="Montserrat"/>
                <a:ea typeface="Montserrat"/>
                <a:cs typeface="Montserrat"/>
                <a:sym typeface="Montserrat"/>
              </a:rPr>
              <a:t>➡ Siswa laki-laki lebih rentan putus sekolah akibat tekanan ekonomi dan sosial.</a:t>
            </a:r>
          </a:p>
          <a:p>
            <a:pPr algn="l">
              <a:lnSpc>
                <a:spcPts val="4033"/>
              </a:lnSpc>
            </a:pPr>
            <a:r>
              <a:rPr lang="en-US" sz="2880">
                <a:solidFill>
                  <a:srgbClr val="004A55"/>
                </a:solidFill>
                <a:latin typeface="Montserrat"/>
                <a:ea typeface="Montserrat"/>
                <a:cs typeface="Montserrat"/>
                <a:sym typeface="Montserrat"/>
              </a:rPr>
              <a:t>➡ Faktor budaya dan lingkungan memengaruhi dinamika gender.</a:t>
            </a:r>
          </a:p>
        </p:txBody>
      </p:sp>
      <p:sp>
        <p:nvSpPr>
          <p:cNvPr name="Freeform 8" id="8"/>
          <p:cNvSpPr/>
          <p:nvPr/>
        </p:nvSpPr>
        <p:spPr>
          <a:xfrm flipH="false" flipV="false" rot="0">
            <a:off x="10289812" y="2902469"/>
            <a:ext cx="6242774" cy="4994219"/>
          </a:xfrm>
          <a:custGeom>
            <a:avLst/>
            <a:gdLst/>
            <a:ahLst/>
            <a:cxnLst/>
            <a:rect r="r" b="b" t="t" l="l"/>
            <a:pathLst>
              <a:path h="4994219" w="6242774">
                <a:moveTo>
                  <a:pt x="0" y="0"/>
                </a:moveTo>
                <a:lnTo>
                  <a:pt x="6242774" y="0"/>
                </a:lnTo>
                <a:lnTo>
                  <a:pt x="6242774" y="4994219"/>
                </a:lnTo>
                <a:lnTo>
                  <a:pt x="0" y="49942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6867436" y="361528"/>
            <a:ext cx="11617762" cy="10287000"/>
          </a:xfrm>
          <a:custGeom>
            <a:avLst/>
            <a:gdLst/>
            <a:ahLst/>
            <a:cxnLst/>
            <a:rect r="r" b="b" t="t" l="l"/>
            <a:pathLst>
              <a:path h="10287000" w="11617762">
                <a:moveTo>
                  <a:pt x="0" y="0"/>
                </a:moveTo>
                <a:lnTo>
                  <a:pt x="11617761" y="0"/>
                </a:lnTo>
                <a:lnTo>
                  <a:pt x="11617761"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058519" y="2545592"/>
            <a:ext cx="6872381" cy="6447543"/>
          </a:xfrm>
          <a:custGeom>
            <a:avLst/>
            <a:gdLst/>
            <a:ahLst/>
            <a:cxnLst/>
            <a:rect r="r" b="b" t="t" l="l"/>
            <a:pathLst>
              <a:path h="6447543" w="6872381">
                <a:moveTo>
                  <a:pt x="0" y="0"/>
                </a:moveTo>
                <a:lnTo>
                  <a:pt x="6872381" y="0"/>
                </a:lnTo>
                <a:lnTo>
                  <a:pt x="6872381" y="6447543"/>
                </a:lnTo>
                <a:lnTo>
                  <a:pt x="0" y="644754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318885" y="589040"/>
            <a:ext cx="16612015"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Status Sekolah &amp; Pola Gabungan</a:t>
            </a:r>
          </a:p>
        </p:txBody>
      </p:sp>
      <p:sp>
        <p:nvSpPr>
          <p:cNvPr name="TextBox 8" id="8"/>
          <p:cNvSpPr txBox="true"/>
          <p:nvPr/>
        </p:nvSpPr>
        <p:spPr>
          <a:xfrm rot="0">
            <a:off x="660996" y="1912862"/>
            <a:ext cx="9397523" cy="6413651"/>
          </a:xfrm>
          <a:prstGeom prst="rect">
            <a:avLst/>
          </a:prstGeom>
        </p:spPr>
        <p:txBody>
          <a:bodyPr anchor="t" rtlCol="false" tIns="0" lIns="0" bIns="0" rIns="0">
            <a:spAutoFit/>
          </a:bodyPr>
          <a:lstStyle/>
          <a:p>
            <a:pPr algn="l">
              <a:lnSpc>
                <a:spcPts val="3935"/>
              </a:lnSpc>
            </a:pPr>
            <a:r>
              <a:rPr lang="en-US" sz="2811">
                <a:solidFill>
                  <a:srgbClr val="004A55"/>
                </a:solidFill>
                <a:latin typeface="Montserrat"/>
                <a:ea typeface="Montserrat"/>
                <a:cs typeface="Montserrat"/>
                <a:sym typeface="Montserrat"/>
              </a:rPr>
              <a:t>* Putus sekolah lebih dominan di sekolah negeri:</a:t>
            </a:r>
          </a:p>
          <a:p>
            <a:pPr algn="l">
              <a:lnSpc>
                <a:spcPts val="3935"/>
              </a:lnSpc>
            </a:pPr>
          </a:p>
          <a:p>
            <a:pPr algn="l">
              <a:lnSpc>
                <a:spcPts val="3935"/>
              </a:lnSpc>
            </a:pPr>
            <a:r>
              <a:rPr lang="en-US" sz="2811">
                <a:solidFill>
                  <a:srgbClr val="004A55"/>
                </a:solidFill>
                <a:latin typeface="Montserrat"/>
                <a:ea typeface="Montserrat"/>
                <a:cs typeface="Montserrat"/>
                <a:sym typeface="Montserrat"/>
              </a:rPr>
              <a:t>  * Negeri: 145 siswa</a:t>
            </a:r>
          </a:p>
          <a:p>
            <a:pPr algn="l">
              <a:lnSpc>
                <a:spcPts val="3935"/>
              </a:lnSpc>
            </a:pPr>
            <a:r>
              <a:rPr lang="en-US" sz="2811">
                <a:solidFill>
                  <a:srgbClr val="004A55"/>
                </a:solidFill>
                <a:latin typeface="Montserrat"/>
                <a:ea typeface="Montserrat"/>
                <a:cs typeface="Montserrat"/>
                <a:sym typeface="Montserrat"/>
              </a:rPr>
              <a:t>  * Swasta: 27 siswa</a:t>
            </a:r>
          </a:p>
          <a:p>
            <a:pPr algn="l">
              <a:lnSpc>
                <a:spcPts val="3935"/>
              </a:lnSpc>
            </a:pPr>
            <a:r>
              <a:rPr lang="en-US" sz="2811">
                <a:solidFill>
                  <a:srgbClr val="004A55"/>
                </a:solidFill>
                <a:latin typeface="Montserrat"/>
                <a:ea typeface="Montserrat"/>
                <a:cs typeface="Montserrat"/>
                <a:sym typeface="Montserrat"/>
              </a:rPr>
              <a:t>* Kelompok paling rentan:</a:t>
            </a:r>
          </a:p>
          <a:p>
            <a:pPr algn="l">
              <a:lnSpc>
                <a:spcPts val="3935"/>
              </a:lnSpc>
            </a:pPr>
          </a:p>
          <a:p>
            <a:pPr algn="l">
              <a:lnSpc>
                <a:spcPts val="3935"/>
              </a:lnSpc>
            </a:pPr>
            <a:r>
              <a:rPr lang="en-US" sz="2811">
                <a:solidFill>
                  <a:srgbClr val="004A55"/>
                </a:solidFill>
                <a:latin typeface="Montserrat"/>
                <a:ea typeface="Montserrat"/>
                <a:cs typeface="Montserrat"/>
                <a:sym typeface="Montserrat"/>
              </a:rPr>
              <a:t>  * Laki-laki – Sekolah Negeri</a:t>
            </a:r>
          </a:p>
          <a:p>
            <a:pPr algn="l">
              <a:lnSpc>
                <a:spcPts val="3935"/>
              </a:lnSpc>
            </a:pPr>
          </a:p>
          <a:p>
            <a:pPr algn="l">
              <a:lnSpc>
                <a:spcPts val="3935"/>
              </a:lnSpc>
            </a:pPr>
            <a:r>
              <a:rPr lang="en-US" sz="2811">
                <a:solidFill>
                  <a:srgbClr val="004A55"/>
                </a:solidFill>
                <a:latin typeface="Montserrat"/>
                <a:ea typeface="Montserrat"/>
                <a:cs typeface="Montserrat"/>
                <a:sym typeface="Montserrat"/>
              </a:rPr>
              <a:t>➡ Sekolah negeri menjadi kontributor utama karena jumlah siswa besar dan latar belakang ekonomi beragam.</a:t>
            </a:r>
          </a:p>
          <a:p>
            <a:pPr algn="l">
              <a:lnSpc>
                <a:spcPts val="3935"/>
              </a:lnSpc>
            </a:pPr>
            <a:r>
              <a:rPr lang="en-US" sz="2811">
                <a:solidFill>
                  <a:srgbClr val="004A55"/>
                </a:solidFill>
                <a:latin typeface="Montserrat"/>
                <a:ea typeface="Montserrat"/>
                <a:cs typeface="Montserrat"/>
                <a:sym typeface="Montserrat"/>
              </a:rPr>
              <a:t>➡ Visualisasi gabungan menunjukkan pola risiko yang konsisten.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9439415" y="2831091"/>
            <a:ext cx="7329024" cy="5876545"/>
          </a:xfrm>
          <a:custGeom>
            <a:avLst/>
            <a:gdLst/>
            <a:ahLst/>
            <a:cxnLst/>
            <a:rect r="r" b="b" t="t" l="l"/>
            <a:pathLst>
              <a:path h="5876545" w="7329024">
                <a:moveTo>
                  <a:pt x="0" y="0"/>
                </a:moveTo>
                <a:lnTo>
                  <a:pt x="7329024" y="0"/>
                </a:lnTo>
                <a:lnTo>
                  <a:pt x="7329024" y="5876545"/>
                </a:lnTo>
                <a:lnTo>
                  <a:pt x="0" y="58765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798636" y="589040"/>
            <a:ext cx="14251312" cy="1003145"/>
          </a:xfrm>
          <a:prstGeom prst="rect">
            <a:avLst/>
          </a:prstGeom>
        </p:spPr>
        <p:txBody>
          <a:bodyPr anchor="t" rtlCol="false" tIns="0" lIns="0" bIns="0" rIns="0">
            <a:spAutoFit/>
          </a:bodyPr>
          <a:lstStyle/>
          <a:p>
            <a:pPr algn="l">
              <a:lnSpc>
                <a:spcPts val="7562"/>
              </a:lnSpc>
            </a:pPr>
            <a:r>
              <a:rPr lang="en-US" sz="7414" b="true">
                <a:solidFill>
                  <a:srgbClr val="004A55"/>
                </a:solidFill>
                <a:latin typeface="Montserrat Bold"/>
                <a:ea typeface="Montserrat Bold"/>
                <a:cs typeface="Montserrat Bold"/>
                <a:sym typeface="Montserrat Bold"/>
              </a:rPr>
              <a:t>Kesimpulan &amp; Rekomendasi</a:t>
            </a:r>
          </a:p>
        </p:txBody>
      </p:sp>
      <p:sp>
        <p:nvSpPr>
          <p:cNvPr name="TextBox 8" id="8"/>
          <p:cNvSpPr txBox="true"/>
          <p:nvPr/>
        </p:nvSpPr>
        <p:spPr>
          <a:xfrm rot="0">
            <a:off x="798636" y="1761767"/>
            <a:ext cx="8003955" cy="6725367"/>
          </a:xfrm>
          <a:prstGeom prst="rect">
            <a:avLst/>
          </a:prstGeom>
        </p:spPr>
        <p:txBody>
          <a:bodyPr anchor="t" rtlCol="false" tIns="0" lIns="0" bIns="0" rIns="0">
            <a:spAutoFit/>
          </a:bodyPr>
          <a:lstStyle/>
          <a:p>
            <a:pPr algn="l">
              <a:lnSpc>
                <a:spcPts val="3351"/>
              </a:lnSpc>
            </a:pPr>
            <a:r>
              <a:rPr lang="en-US" sz="2394">
                <a:solidFill>
                  <a:srgbClr val="004A55"/>
                </a:solidFill>
                <a:latin typeface="Montserrat"/>
                <a:ea typeface="Montserrat"/>
                <a:cs typeface="Montserrat"/>
                <a:sym typeface="Montserrat"/>
              </a:rPr>
              <a:t>**Kesimpulan:**</a:t>
            </a:r>
          </a:p>
          <a:p>
            <a:pPr algn="l">
              <a:lnSpc>
                <a:spcPts val="3351"/>
              </a:lnSpc>
            </a:pPr>
          </a:p>
          <a:p>
            <a:pPr algn="l">
              <a:lnSpc>
                <a:spcPts val="3351"/>
              </a:lnSpc>
            </a:pPr>
            <a:r>
              <a:rPr lang="en-US" sz="2394">
                <a:solidFill>
                  <a:srgbClr val="004A55"/>
                </a:solidFill>
                <a:latin typeface="Montserrat"/>
                <a:ea typeface="Montserrat"/>
                <a:cs typeface="Montserrat"/>
                <a:sym typeface="Montserrat"/>
              </a:rPr>
              <a:t>* Terjadi ketimpangan putus sekolah berdasarkan wilayah, gender, dan status sekolah</a:t>
            </a:r>
          </a:p>
          <a:p>
            <a:pPr algn="l">
              <a:lnSpc>
                <a:spcPts val="3351"/>
              </a:lnSpc>
            </a:pPr>
            <a:r>
              <a:rPr lang="en-US" sz="2394">
                <a:solidFill>
                  <a:srgbClr val="004A55"/>
                </a:solidFill>
                <a:latin typeface="Montserrat"/>
                <a:ea typeface="Montserrat"/>
                <a:cs typeface="Montserrat"/>
                <a:sym typeface="Montserrat"/>
              </a:rPr>
              <a:t>* Kecamatan Natar memiliki risiko tertinggi</a:t>
            </a:r>
          </a:p>
          <a:p>
            <a:pPr algn="l">
              <a:lnSpc>
                <a:spcPts val="3351"/>
              </a:lnSpc>
            </a:pPr>
            <a:r>
              <a:rPr lang="en-US" sz="2394">
                <a:solidFill>
                  <a:srgbClr val="004A55"/>
                </a:solidFill>
                <a:latin typeface="Montserrat"/>
                <a:ea typeface="Montserrat"/>
                <a:cs typeface="Montserrat"/>
                <a:sym typeface="Montserrat"/>
              </a:rPr>
              <a:t>* Siswa laki-laki dan sekolah negeri lebih rentan</a:t>
            </a:r>
          </a:p>
          <a:p>
            <a:pPr algn="l">
              <a:lnSpc>
                <a:spcPts val="3351"/>
              </a:lnSpc>
            </a:pPr>
            <a:r>
              <a:rPr lang="en-US" sz="2394">
                <a:solidFill>
                  <a:srgbClr val="004A55"/>
                </a:solidFill>
                <a:latin typeface="Montserrat"/>
                <a:ea typeface="Montserrat"/>
                <a:cs typeface="Montserrat"/>
                <a:sym typeface="Montserrat"/>
              </a:rPr>
              <a:t>* Visualisasi efektif mengungkap pola kerentanan</a:t>
            </a:r>
          </a:p>
          <a:p>
            <a:pPr algn="l">
              <a:lnSpc>
                <a:spcPts val="3351"/>
              </a:lnSpc>
            </a:pPr>
          </a:p>
          <a:p>
            <a:pPr algn="l">
              <a:lnSpc>
                <a:spcPts val="3351"/>
              </a:lnSpc>
            </a:pPr>
            <a:r>
              <a:rPr lang="en-US" sz="2394">
                <a:solidFill>
                  <a:srgbClr val="004A55"/>
                </a:solidFill>
                <a:latin typeface="Montserrat"/>
                <a:ea typeface="Montserrat"/>
                <a:cs typeface="Montserrat"/>
                <a:sym typeface="Montserrat"/>
              </a:rPr>
              <a:t>**Rekomendasi:**</a:t>
            </a:r>
          </a:p>
          <a:p>
            <a:pPr algn="l">
              <a:lnSpc>
                <a:spcPts val="3351"/>
              </a:lnSpc>
            </a:pPr>
          </a:p>
          <a:p>
            <a:pPr algn="l">
              <a:lnSpc>
                <a:spcPts val="3351"/>
              </a:lnSpc>
            </a:pPr>
            <a:r>
              <a:rPr lang="en-US" sz="2394">
                <a:solidFill>
                  <a:srgbClr val="004A55"/>
                </a:solidFill>
                <a:latin typeface="Montserrat"/>
                <a:ea typeface="Montserrat"/>
                <a:cs typeface="Montserrat"/>
                <a:sym typeface="Montserrat"/>
              </a:rPr>
              <a:t>* Prioritaskan intervensi di kecamatan berisiko tinggi</a:t>
            </a:r>
          </a:p>
          <a:p>
            <a:pPr algn="l">
              <a:lnSpc>
                <a:spcPts val="3351"/>
              </a:lnSpc>
            </a:pPr>
            <a:r>
              <a:rPr lang="en-US" sz="2394">
                <a:solidFill>
                  <a:srgbClr val="004A55"/>
                </a:solidFill>
                <a:latin typeface="Montserrat"/>
                <a:ea typeface="Montserrat"/>
                <a:cs typeface="Montserrat"/>
                <a:sym typeface="Montserrat"/>
              </a:rPr>
              <a:t>* Perkuat monitoring di sekolah negeri</a:t>
            </a:r>
          </a:p>
          <a:p>
            <a:pPr algn="l">
              <a:lnSpc>
                <a:spcPts val="3351"/>
              </a:lnSpc>
            </a:pPr>
            <a:r>
              <a:rPr lang="en-US" sz="2394">
                <a:solidFill>
                  <a:srgbClr val="004A55"/>
                </a:solidFill>
                <a:latin typeface="Montserrat"/>
                <a:ea typeface="Montserrat"/>
                <a:cs typeface="Montserrat"/>
                <a:sym typeface="Montserrat"/>
              </a:rPr>
              <a:t>* Pendampingan khusus bagi siswa laki-laki dari keluarga rentan</a:t>
            </a:r>
          </a:p>
          <a:p>
            <a:pPr algn="l">
              <a:lnSpc>
                <a:spcPts val="3351"/>
              </a:lnSpc>
            </a:pPr>
            <a:r>
              <a:rPr lang="en-US" sz="2394">
                <a:solidFill>
                  <a:srgbClr val="004A55"/>
                </a:solidFill>
                <a:latin typeface="Montserrat"/>
                <a:ea typeface="Montserrat"/>
                <a:cs typeface="Montserrat"/>
                <a:sym typeface="Montserrat"/>
              </a:rPr>
              <a:t>* Sinergi pemerintah, sekolah, dan orang tua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6F6"/>
        </a:solidFill>
      </p:bgPr>
    </p:bg>
    <p:spTree>
      <p:nvGrpSpPr>
        <p:cNvPr id="1" name=""/>
        <p:cNvGrpSpPr/>
        <p:nvPr/>
      </p:nvGrpSpPr>
      <p:grpSpPr>
        <a:xfrm>
          <a:off x="0" y="0"/>
          <a:ext cx="0" cy="0"/>
          <a:chOff x="0" y="0"/>
          <a:chExt cx="0" cy="0"/>
        </a:xfrm>
      </p:grpSpPr>
      <p:sp>
        <p:nvSpPr>
          <p:cNvPr name="Freeform 2" id="2"/>
          <p:cNvSpPr/>
          <p:nvPr/>
        </p:nvSpPr>
        <p:spPr>
          <a:xfrm flipH="true" flipV="false" rot="0">
            <a:off x="9144000" y="0"/>
            <a:ext cx="10287000" cy="10287000"/>
          </a:xfrm>
          <a:custGeom>
            <a:avLst/>
            <a:gdLst/>
            <a:ahLst/>
            <a:cxnLst/>
            <a:rect r="r" b="b" t="t" l="l"/>
            <a:pathLst>
              <a:path h="10287000" w="10287000">
                <a:moveTo>
                  <a:pt x="10287000" y="0"/>
                </a:moveTo>
                <a:lnTo>
                  <a:pt x="0" y="0"/>
                </a:lnTo>
                <a:lnTo>
                  <a:pt x="0" y="10287000"/>
                </a:lnTo>
                <a:lnTo>
                  <a:pt x="10287000" y="10287000"/>
                </a:lnTo>
                <a:lnTo>
                  <a:pt x="10287000" y="0"/>
                </a:lnTo>
                <a:close/>
              </a:path>
            </a:pathLst>
          </a:custGeom>
          <a:blipFill>
            <a:blip r:embed="rId2">
              <a:alphaModFix amt="25000"/>
            </a:blip>
            <a:stretch>
              <a:fillRect l="0" t="0" r="0" b="0"/>
            </a:stretch>
          </a:blipFill>
        </p:spPr>
      </p:sp>
      <p:sp>
        <p:nvSpPr>
          <p:cNvPr name="Freeform 3" id="3"/>
          <p:cNvSpPr/>
          <p:nvPr/>
        </p:nvSpPr>
        <p:spPr>
          <a:xfrm flipH="false" flipV="false" rot="0">
            <a:off x="6670238" y="0"/>
            <a:ext cx="11617762" cy="10287000"/>
          </a:xfrm>
          <a:custGeom>
            <a:avLst/>
            <a:gdLst/>
            <a:ahLst/>
            <a:cxnLst/>
            <a:rect r="r" b="b" t="t" l="l"/>
            <a:pathLst>
              <a:path h="10287000" w="11617762">
                <a:moveTo>
                  <a:pt x="0" y="0"/>
                </a:moveTo>
                <a:lnTo>
                  <a:pt x="11617762" y="0"/>
                </a:lnTo>
                <a:lnTo>
                  <a:pt x="11617762"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43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25000"/>
            </a:blip>
            <a:stretch>
              <a:fillRect l="0" t="0" r="0" b="0"/>
            </a:stretch>
          </a:blipFill>
        </p:spPr>
      </p:sp>
      <p:sp>
        <p:nvSpPr>
          <p:cNvPr name="Freeform 5" id="5"/>
          <p:cNvSpPr/>
          <p:nvPr/>
        </p:nvSpPr>
        <p:spPr>
          <a:xfrm flipH="false" flipV="true" rot="0">
            <a:off x="15280012" y="7300604"/>
            <a:ext cx="1979288" cy="1957696"/>
          </a:xfrm>
          <a:custGeom>
            <a:avLst/>
            <a:gdLst/>
            <a:ahLst/>
            <a:cxnLst/>
            <a:rect r="r" b="b" t="t" l="l"/>
            <a:pathLst>
              <a:path h="1957696" w="1979288">
                <a:moveTo>
                  <a:pt x="0" y="1957696"/>
                </a:moveTo>
                <a:lnTo>
                  <a:pt x="1979288" y="1957696"/>
                </a:lnTo>
                <a:lnTo>
                  <a:pt x="1979288" y="0"/>
                </a:lnTo>
                <a:lnTo>
                  <a:pt x="0" y="0"/>
                </a:lnTo>
                <a:lnTo>
                  <a:pt x="0" y="195769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406711" y="3456512"/>
            <a:ext cx="5328927" cy="5498893"/>
          </a:xfrm>
          <a:custGeom>
            <a:avLst/>
            <a:gdLst/>
            <a:ahLst/>
            <a:cxnLst/>
            <a:rect r="r" b="b" t="t" l="l"/>
            <a:pathLst>
              <a:path h="5498893" w="5328927">
                <a:moveTo>
                  <a:pt x="0" y="0"/>
                </a:moveTo>
                <a:lnTo>
                  <a:pt x="5328927" y="0"/>
                </a:lnTo>
                <a:lnTo>
                  <a:pt x="5328927" y="5498893"/>
                </a:lnTo>
                <a:lnTo>
                  <a:pt x="0" y="54988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28700" y="1295400"/>
            <a:ext cx="16230600" cy="2077190"/>
          </a:xfrm>
          <a:prstGeom prst="rect">
            <a:avLst/>
          </a:prstGeom>
        </p:spPr>
        <p:txBody>
          <a:bodyPr anchor="t" rtlCol="false" tIns="0" lIns="0" bIns="0" rIns="0">
            <a:spAutoFit/>
          </a:bodyPr>
          <a:lstStyle/>
          <a:p>
            <a:pPr algn="l">
              <a:lnSpc>
                <a:spcPts val="15729"/>
              </a:lnSpc>
            </a:pPr>
            <a:r>
              <a:rPr lang="en-US" sz="15420" b="true">
                <a:solidFill>
                  <a:srgbClr val="004A55"/>
                </a:solidFill>
                <a:latin typeface="Montserrat Bold"/>
                <a:ea typeface="Montserrat Bold"/>
                <a:cs typeface="Montserrat Bold"/>
                <a:sym typeface="Montserrat Bold"/>
              </a:rPr>
              <a:t>THANK YOU</a:t>
            </a:r>
          </a:p>
        </p:txBody>
      </p:sp>
      <p:sp>
        <p:nvSpPr>
          <p:cNvPr name="Freeform 8" id="8"/>
          <p:cNvSpPr/>
          <p:nvPr/>
        </p:nvSpPr>
        <p:spPr>
          <a:xfrm flipH="false" flipV="false" rot="0">
            <a:off x="1348969" y="3839457"/>
            <a:ext cx="6872381" cy="6447543"/>
          </a:xfrm>
          <a:custGeom>
            <a:avLst/>
            <a:gdLst/>
            <a:ahLst/>
            <a:cxnLst/>
            <a:rect r="r" b="b" t="t" l="l"/>
            <a:pathLst>
              <a:path h="6447543" w="6872381">
                <a:moveTo>
                  <a:pt x="0" y="0"/>
                </a:moveTo>
                <a:lnTo>
                  <a:pt x="6872381" y="0"/>
                </a:lnTo>
                <a:lnTo>
                  <a:pt x="6872381" y="6447543"/>
                </a:lnTo>
                <a:lnTo>
                  <a:pt x="0" y="64475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DAG5DoT7L5U</dc:identifier>
  <dcterms:modified xsi:type="dcterms:W3CDTF">2011-08-01T06:04:30Z</dcterms:modified>
  <cp:revision>1</cp:revision>
  <dc:title>PPT Tugas Besar Komputasi Statistik Kelompok 10 RA</dc:title>
</cp:coreProperties>
</file>